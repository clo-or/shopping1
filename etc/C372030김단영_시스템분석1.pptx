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1" d="100"/>
          <a:sy n="71" d="100"/>
        </p:scale>
        <p:origin x="52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1435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5EEAD4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RFM 분류 기반</a:t>
            </a:r>
            <a:endParaRPr lang="en-US" sz="3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예측 및 재구매 유도 전략 시스템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C372030</a:t>
            </a:r>
            <a:r>
              <a:rPr lang="ko-KR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김단영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2026.04.13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선정 배경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인식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19659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고객 획득 비용이 기존 고객 유지 비용의 5~7배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여전히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신규 유입 중심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마케팅에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집중</a:t>
            </a:r>
            <a:r>
              <a:rPr lang="ko-KR" alt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기업 존재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고객별 LTV를 예측하지 못한 채 획일적 프로모션 운영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마케팅 비용 낭비 + 고객 이탈 동시 발생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657600" cy="3200400"/>
          </a:xfrm>
          <a:prstGeom prst="rect">
            <a:avLst/>
          </a:prstGeom>
          <a:solidFill>
            <a:srgbClr val="0F2B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3716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 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120640" y="19659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세그먼테이션 + ML 기반 LTV 예측 결합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맞춤 재구매 유도 전략 자동 생성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데이터랩 트렌드 API 연동으로 계절성 반영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지원 시스템 구축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</a:t>
            </a: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68178" y="1067087"/>
            <a:ext cx="2244594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68177" y="1067087"/>
            <a:ext cx="45719" cy="33375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08" y="1321695"/>
            <a:ext cx="317335" cy="5394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8257" y="1249967"/>
            <a:ext cx="1683445" cy="78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세그먼테이션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6778" y="1707167"/>
            <a:ext cx="1964020" cy="166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ko-KR" altLang="en-US" sz="1100" dirty="0"/>
              <a:t>캠핑 예약 플랫폼의 고객 행동 데이터 기반 고객 </a:t>
            </a:r>
            <a:r>
              <a:rPr lang="ko-KR" altLang="en-US" sz="1100" dirty="0" err="1"/>
              <a:t>세그멘테이션</a:t>
            </a:r>
            <a:r>
              <a:rPr lang="ko-KR" altLang="en-US" sz="1100" dirty="0"/>
              <a:t> 전략</a:t>
            </a:r>
            <a:r>
              <a:rPr lang="en-US" altLang="ko-KR" sz="1100" dirty="0"/>
              <a:t>: RFM </a:t>
            </a:r>
            <a:r>
              <a:rPr lang="ko-KR" altLang="en-US" sz="1100" dirty="0"/>
              <a:t>분석 모델과 </a:t>
            </a:r>
            <a:r>
              <a:rPr lang="en-US" altLang="ko-KR" sz="1100" dirty="0"/>
              <a:t>K-Means </a:t>
            </a:r>
            <a:r>
              <a:rPr lang="ko-KR" altLang="en-US" sz="1100" dirty="0"/>
              <a:t>클러스터링 기법 비교 </a:t>
            </a:r>
            <a:r>
              <a:rPr lang="en-US" altLang="ko-KR" sz="1100" dirty="0"/>
              <a:t>(2025)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80395" y="1051560"/>
            <a:ext cx="2244593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180395" y="1051560"/>
            <a:ext cx="45719" cy="33375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562" y="1339208"/>
            <a:ext cx="341219" cy="5219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20475" y="1234440"/>
            <a:ext cx="1683445" cy="78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예측 모델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8995" y="1691640"/>
            <a:ext cx="1964019" cy="166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ko-KR" altLang="en-US" sz="1100" dirty="0" err="1"/>
              <a:t>데이터마이닝</a:t>
            </a:r>
            <a:r>
              <a:rPr lang="ko-KR" altLang="en-US" sz="1100" dirty="0"/>
              <a:t> 기법을 이용한 </a:t>
            </a:r>
            <a:r>
              <a:rPr lang="ko-KR" altLang="en-US" sz="1100" dirty="0" err="1"/>
              <a:t>고객생애가치</a:t>
            </a:r>
            <a:r>
              <a:rPr lang="ko-KR" altLang="en-US" sz="1100" dirty="0"/>
              <a:t> 측정모형 개발</a:t>
            </a:r>
            <a:r>
              <a:rPr lang="en-US" altLang="ko-KR" sz="1100" dirty="0"/>
              <a:t>(2003) 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41441" y="1072262"/>
            <a:ext cx="2244593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3341440" y="1072262"/>
            <a:ext cx="53017" cy="33375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884" y="1483742"/>
            <a:ext cx="274071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81520" y="1255142"/>
            <a:ext cx="1683444" cy="785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이탈 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613620" y="1556355"/>
            <a:ext cx="1964020" cy="1668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ko-KR" altLang="en-US" sz="1100" dirty="0"/>
              <a:t>고객이탈 예측 모델링 기반 기대수익 최적화 방안</a:t>
            </a:r>
            <a:r>
              <a:rPr lang="en-US" altLang="ko-KR" sz="1100" dirty="0"/>
              <a:t>(2020) 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데이터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50292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H&amp;M Personalized Fashion Recommendations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공개 데이터 · CC BY 4.0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4480560" cy="12801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파일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transactions_train.csv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3,100만 건 거래 (2018.09~2020.09)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customers.csv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137만 명 고객 메타데이터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articles.csv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10.5만 개 상품 메타데이터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126480" y="1005840"/>
            <a:ext cx="2468880" cy="3474720"/>
          </a:xfrm>
          <a:prstGeom prst="rect">
            <a:avLst/>
          </a:prstGeom>
          <a:solidFill>
            <a:srgbClr val="0F2B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3258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0936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 데이터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30936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데이터랩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API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309360" y="2971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패션 카테고리별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검색량 트렌드 수집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XGBoost 외부 변수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0F2B46"/>
                </a:solidFill>
                <a:latin typeface="Calibri"/>
              </a:rPr>
              <a:t>데이터</a:t>
            </a:r>
            <a:r>
              <a:rPr sz="2800" b="1" dirty="0">
                <a:solidFill>
                  <a:srgbClr val="0F2B46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0F2B46"/>
                </a:solidFill>
                <a:latin typeface="Calibri"/>
              </a:rPr>
              <a:t>특성</a:t>
            </a:r>
            <a:endParaRPr sz="2800" b="1" dirty="0">
              <a:solidFill>
                <a:srgbClr val="0F2B46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transactions_train.csv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5개 컬럼 · 3,100만 건 거래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기간: 2018.09 ~ 2020.09 (2년)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결측치: 없음</a:t>
            </a:r>
          </a:p>
          <a:p>
            <a:pPr algn="l">
              <a:spcAft>
                <a:spcPts val="200"/>
              </a:spcAft>
            </a:pPr>
            <a:endParaRPr sz="900">
              <a:solidFill>
                <a:srgbClr val="334155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price: 0~1 정규화된 값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평균 0.028 / 최대 0.59</a:t>
            </a:r>
          </a:p>
          <a:p>
            <a:pPr algn="l">
              <a:spcAft>
                <a:spcPts val="200"/>
              </a:spcAft>
            </a:pPr>
            <a:endParaRPr sz="900">
              <a:solidFill>
                <a:srgbClr val="334155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채널 분포: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오프라인 70.1% / 온라인 29.9%</a:t>
            </a:r>
          </a:p>
          <a:p>
            <a:pPr algn="l">
              <a:spcAft>
                <a:spcPts val="200"/>
              </a:spcAft>
            </a:pPr>
            <a:endParaRPr sz="900">
              <a:solidFill>
                <a:srgbClr val="334155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고객당 구매 횟수: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평균 23.4회 / 중앙값 9회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0584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0" y="1005840"/>
            <a:ext cx="265176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customers.csv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7개 컬럼 · 137만 명</a:t>
            </a:r>
          </a:p>
          <a:p>
            <a:pPr algn="l">
              <a:spcAft>
                <a:spcPts val="200"/>
              </a:spcAft>
            </a:pPr>
            <a:endParaRPr sz="900">
              <a:solidFill>
                <a:srgbClr val="334155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FN/Active: 65% NaN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→ 미등록/비활성 의미 (이진변수)</a:t>
            </a:r>
          </a:p>
          <a:p>
            <a:pPr algn="l">
              <a:spcAft>
                <a:spcPts val="200"/>
              </a:spcAft>
            </a:pPr>
            <a:endParaRPr sz="900">
              <a:solidFill>
                <a:srgbClr val="334155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age: 평균 36세 (16~99)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결측 1.2%</a:t>
            </a:r>
          </a:p>
          <a:p>
            <a:pPr algn="l">
              <a:spcAft>
                <a:spcPts val="200"/>
              </a:spcAft>
            </a:pPr>
            <a:endParaRPr sz="900">
              <a:solidFill>
                <a:srgbClr val="334155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club_member_status: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ACTIVE 93% → 변별력 낮음</a:t>
            </a:r>
          </a:p>
          <a:p>
            <a:pPr algn="l">
              <a:spcAft>
                <a:spcPts val="200"/>
              </a:spcAft>
            </a:pPr>
            <a:endParaRPr sz="900">
              <a:solidFill>
                <a:srgbClr val="334155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fashion_news_frequency: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NONE 64% / Regularly 35%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005840"/>
            <a:ext cx="265176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articles.csv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25개 컬럼 · 10.5만 상품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결측: detail_desc만 0.4%</a:t>
            </a:r>
          </a:p>
          <a:p>
            <a:pPr algn="l">
              <a:spcAft>
                <a:spcPts val="200"/>
              </a:spcAft>
            </a:pPr>
            <a:endParaRPr sz="900">
              <a:solidFill>
                <a:srgbClr val="334155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대분류 (index_group_name):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Ladieswear 38%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Baby/Children 33%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Divided 14%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Menswear 12%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Sport 3%</a:t>
            </a:r>
          </a:p>
          <a:p>
            <a:pPr algn="l">
              <a:spcAft>
                <a:spcPts val="200"/>
              </a:spcAft>
            </a:pPr>
            <a:endParaRPr sz="900">
              <a:solidFill>
                <a:srgbClr val="334155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상품그룹 상위: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상의 &gt; 하의 &gt; 원피스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334155"/>
                </a:solidFill>
                <a:latin typeface="Calibri"/>
              </a:rPr>
              <a:t>  &gt; 액세서리 &gt; 속옷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2B46"/>
                </a:solidFill>
                <a:latin typeface="Calibri"/>
              </a:rPr>
              <a:t>RFM 세그먼트 분석 결과</a:t>
            </a:r>
          </a:p>
        </p:txBody>
      </p:sp>
      <p:pic>
        <p:nvPicPr>
          <p:cNvPr id="4" name="Picture 3" descr="seg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754880" cy="3200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94960" y="1005840"/>
            <a:ext cx="3474720" cy="347472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3560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EEAD4"/>
                </a:solidFill>
                <a:latin typeface="Calibri"/>
              </a:rPr>
              <a:t>핵심 발견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6002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E2E8F0"/>
                </a:solidFill>
                <a:latin typeface="Calibri"/>
              </a:rPr>
              <a:t>Champions (25.3%)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alibri"/>
              </a:rPr>
              <a:t>Recency 36일 / 구매 62회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alibri"/>
              </a:rPr>
              <a:t>→ 최우수 고객군</a:t>
            </a:r>
          </a:p>
          <a:p>
            <a:pPr algn="l">
              <a:spcAft>
                <a:spcPts val="200"/>
              </a:spcAft>
            </a:pPr>
            <a:endParaRPr sz="900" b="0">
              <a:solidFill>
                <a:srgbClr val="E2E8F0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E2E8F0"/>
                </a:solidFill>
                <a:latin typeface="Calibri"/>
              </a:rPr>
              <a:t>Lost + At Risk = 40%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alibri"/>
              </a:rPr>
              <a:t>이탈 고객 비중이 전체의 2/5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alibri"/>
              </a:rPr>
              <a:t>→ 재구매 유도의 핵심 타겟</a:t>
            </a:r>
          </a:p>
          <a:p>
            <a:pPr algn="l">
              <a:spcAft>
                <a:spcPts val="200"/>
              </a:spcAft>
            </a:pPr>
            <a:endParaRPr sz="900" b="0">
              <a:solidFill>
                <a:srgbClr val="E2E8F0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E2E8F0"/>
                </a:solidFill>
                <a:latin typeface="Calibri"/>
              </a:rPr>
              <a:t>At Risk (14.6%)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alibri"/>
              </a:rPr>
              <a:t>과거 구매 17회이나 Recency 420일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alibri"/>
              </a:rPr>
              <a:t>→ 전환 시 ROI 극대화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097280"/>
            <a:ext cx="6949440" cy="7315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입력층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0116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업로드 + 네이버 트렌드 API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97680" y="1828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97280" y="2057400"/>
            <a:ext cx="6949440" cy="731520"/>
          </a:xfrm>
          <a:prstGeom prst="rect">
            <a:avLst/>
          </a:prstGeom>
          <a:solidFill>
            <a:srgbClr val="0E74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1945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1168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&amp; 피처 엔지니어링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01168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 처리 / RFM 산출 / 트렌드 피처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297680" y="2788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097280" y="3017520"/>
            <a:ext cx="6949440" cy="731520"/>
          </a:xfrm>
          <a:prstGeom prst="rect">
            <a:avLst/>
          </a:prstGeom>
          <a:solidFill>
            <a:srgbClr val="1E40A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1546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1168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&amp; 예측 모델층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01168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세그먼트 + LTV 예측 (BG/NBD vs XGBoost)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297680" y="3749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1097280" y="3977640"/>
            <a:ext cx="6949440" cy="731520"/>
          </a:xfrm>
          <a:prstGeom prst="rect">
            <a:avLst/>
          </a:prstGeom>
          <a:solidFill>
            <a:srgbClr val="0F2B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1148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01168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출력층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201168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시뮬레이터 / LLM 전략 생성 / 대시보드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" y="12344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세그먼트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분류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880360"/>
            <a:ext cx="64008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/ Loyal / At Risk 등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분류 및 프로파일링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004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예측 및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비교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2880360"/>
            <a:ext cx="64008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697480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vs XGBoost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12개월 LTV 비교 분석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303520" y="12344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035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0" y="2880360"/>
            <a:ext cx="64008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세그먼트 + 비용 입력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예상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전환율·LTV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증가액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출력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00584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406640" y="12344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4066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전략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생성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06640" y="2880360"/>
            <a:ext cx="64008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903720" y="3063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alt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분석결과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트렌드 기반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재구매 전략 생성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</a:t>
            </a: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143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코호트 분석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1508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ko-KR" alt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 구매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월 기준 재구매율 변화를 히트맵으로 시각화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시간축 관점의 충성도 분석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33172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606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468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 임박 고객 알림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2834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기반 30일 내 구매 확률 → 임계값 이하 고객 자동 탐지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재구매 유도 타이밍 결정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40080" y="3657600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31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794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구매 시점 예측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4160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구매 주기 + BG/NBD 결합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"약 23일 후 구매 가능성 높음" 예측 → 캠페인 최적 시점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트렌드 API 연동 방안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2377440" cy="146304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의류 카테고리별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검색량 지수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749040" y="1097280"/>
            <a:ext cx="2377440" cy="146304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74904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입력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피처로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계절성 반영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675120" y="1097280"/>
            <a:ext cx="2377440" cy="146304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7512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생성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트렌딩 카테고리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컨텍스트 제공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017520"/>
            <a:ext cx="7498080" cy="137160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3017520"/>
            <a:ext cx="64008" cy="1371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972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시나리오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5204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패딩 검색량이 전월 대비 200% 급등 → At Risk 고객 세그먼트에 아우터 관련 재구매 쿠폰 선제 발송 전략 자동 추천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</a:t>
            </a: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</a:t>
            </a:r>
            <a:r>
              <a:rPr lang="en-US" sz="2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38404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0058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확정 · EDA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1005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현재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7863840" cy="384048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14813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7주차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4813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· RFM 세그먼트 분류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956816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19568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8~9주차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19568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· XGBoost LTV 모델 구현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432304"/>
            <a:ext cx="7863840" cy="384048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2960" y="24323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4323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트렌드 API 연동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907792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2907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11주차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907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시뮬레이터 · LLM 파이프라인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7863840" cy="384048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22960" y="3383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12~13주차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3832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858768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22960" y="38587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3858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334256"/>
            <a:ext cx="7863840" cy="384048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22960" y="43342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15~주차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43342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추가 기능 구상 및 구현</a:t>
            </a:r>
            <a:r>
              <a:rPr lang="en-US" altLang="ko-KR" sz="11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1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시스템 확장 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0D9488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5EEAD4">
              <a:alpha val="7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931920" y="2560320"/>
            <a:ext cx="128016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0" y="2834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736</Words>
  <Application>Microsoft Office PowerPoint</Application>
  <PresentationFormat>화면 슬라이드 쇼(16:9)</PresentationFormat>
  <Paragraphs>186</Paragraphs>
  <Slides>12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 RFM 분류 기반 LTV 예측 및 재구매 유도 전략 시스템</dc:title>
  <dc:subject>PptxGenJS Presentation</dc:subject>
  <dc:creator>산업데이터공학과</dc:creator>
  <cp:lastModifiedBy>김단영</cp:lastModifiedBy>
  <cp:revision>4</cp:revision>
  <dcterms:created xsi:type="dcterms:W3CDTF">2026-04-11T12:38:05Z</dcterms:created>
  <dcterms:modified xsi:type="dcterms:W3CDTF">2026-04-13T02:31:25Z</dcterms:modified>
</cp:coreProperties>
</file>